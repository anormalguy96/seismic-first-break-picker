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point is that the problem is not only a picker problem. The input is not already arranged as clean images; it is a large flat trace table with geometry and labels. A practical solution has to solve organization, leakage control, and evaluation discipline before the model choice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scale. The dataset is large enough that sloppy experimental design can produce misleadingly good numbers. It also explains why the loader had to be made generic: different assets may use slightly different combinations of the same fields, so the ingest stage needs sensible fallbacks.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scale. The dataset is large enough that sloppy experimental design can produce misleadingly good numbers. It also explains why the loader had to be made generic: different assets may use slightly different combinations of the same fields, so the ingest stage needs sensible fallbacks.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description explicitly asks for this reorganization step, and it matters. The ML stage uses local spatial context, so the panel layout has to reflect actual receiver continuity. This is where many shortcut solutions become brittle.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description explicitly asks for this reorganization step, and it matters. The ML stage uses local spatial context, so the panel layout has to reflect actual receiver continuity. This is where many shortcut solutions become brittle.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I would show the transformation from raw traces to clean panels. The filters are pragmatic rather than academic. Segments that are too short or too sparsely labeled are not useful for either training or honest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I would show the transformation from raw traces to clean panels. The filters are pragmatic rather than academic. Segments that are too short or too sparsely labeled are not useful for either training or honest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matter because they define the operating unit of the pipeline. Every later stage, including the split protocol and the evaluation plots, is segment-based. The segmentation rules also reduce the chance that one pathological receiver gap distorts an entire shot panel.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matter because they define the operating unit of the pipeline. Every later stage, including the split protocol and the evaluation plots, is segment-based. The segmentation rules also reduce the chance that one pathological receiver gap distorts an entire shot panel.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baseline is not trivial. It already uses both single-trace and cross-trace information, which makes it a meaningful benchmark. That is important because the correction model is judged against a fairly strong classical method, not against a naive threshold-only picker.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baseline is not trivial. It already uses both single-trace and cross-trace information, which makes it a meaningful benchmark. That is important because the correction model is judged against a fairly strong classical method, not against a naive threshold-only picker.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design decision was to learn the residual instead of replacing the entire picker. In this dataset, the baseline often lands in roughly the right neighborhood, and the job becomes local cleanup. That is a better fit for a CPU-first workflow.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design decision was to learn the residual instead of replacing the entire picker. In this dataset, the baseline often lands in roughly the right neighborhood, and the job becomes local cleanup. That is a better fit for a CPU-first workflow.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intentionally simple and defensible. The model sees local image texture around the current pick and learns whether the line should move up or down. The patch shape is wide enough to catch cross-trace continuity but still compact enough for fast training.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I would explicitly justify not using a CNN. With no GPU and only one locally available asset, a classical boosted regressor is a better engineering choice. It is easy to train, easy to inspect, and strong enough to show measurable value on held-out shots.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I would explicitly justify not using a CNN. With no GPU and only one locally available asset, a classical boosted regressor is a better engineering choice. It is easy to train, easy to inspect, and strong enough to show measurable value on held-out shots.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central to the credibility of the results. Once the evaluation became shot-disjoint, the numbers got harder, but they became believable. That tradeoff is worth making because the goal is generalization, not a flattering offline score.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central to the credibility of the results. Once the evaluation became shot-disjoint, the numbers got harder, but they became believable. That tradeoff is worth making because the goal is generalization, not a flattering offline score.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make it clear here that these are patch-level validation numbers, not the final test numbers. They are used for model selection only. The real claim comes from the next slide, where the full held-out segments are evaluated end to end.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result slide. The absolute errors are still large enough that there is room for improvement, but the direction is clear: the correction stage materially improves both average error and tolerance-based accuracy on unseen shots.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result slide. The absolute errors are still large enough that there is room for improvement, but the direction is clear: the correction stage materially improves both average error and tolerance-based accuracy on unseen shots.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result slide. The absolute errors are still large enough that there is room for improvement, but the direction is clear: the correction stage materially improves both average error and tolerance-based accuracy on unseen shots.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walk through these three examples quickly. The point is not to hide difficult cases. The point is to show where the model is strong, where it is merely acceptable, and where the entire two-stage approach still struggles.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walk through these three examples quickly. The point is not to hide difficult cases. The point is to show where the model is strong, where it is merely acceptable, and where the entire two-stage approach still struggles.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walk through these three examples quickly. The point is not to hide difficult cases. The point is to show where the model is strong, where it is merely acceptable, and where the entire two-stage approach still struggles.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keeps the presentation honest. The correction model is not magic. If the baseline is badly wrong, a small local patch around that bad pick may not contain the information needed to recover the true first break.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keeps the presentation honest. The correction model is not magic. If the baseline is badly wrong, a small local patch around that bad pick may not contain the information needed to recover the true first break.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 would explain the engineering stance. Given the local constraints, it was better to produce a trustworthy CPU pipeline and real held-out results than to add an unvalidated deep model that could not be trained properly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be explicit here: the code is multi-asset ready by design, but the reported numbers are Halfmile numbers only. That distinction matters in a technical review.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close by emphasizing credibility over flash. The main contribution is not only a better score; it is a reproducible workflow with leakage control, CPU feasibility, and clear next steps for multi-asset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close by emphasizing credibility over flash. The main contribution is not only a better score; it is a reproducible workflow with leakage control, CPU feasibility, and clear next steps for multi-asset validation.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3D6D"/>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05840"/>
            <a:ext cx="10911535" cy="1005840"/>
          </a:xfrm>
          <a:prstGeom prst="rect">
            <a:avLst/>
          </a:prstGeom>
          <a:noFill/>
          <a:ln>
            <a:noFill/>
          </a:ln>
        </p:spPr>
        <p:txBody>
          <a:bodyPr wrap="square" lIns="0" rIns="0" tIns="0" bIns="0" anchor="t">
            <a:spAutoFit/>
          </a:bodyPr>
          <a:lstStyle/>
          <a:p>
            <a:pPr algn="l"/>
            <a:r>
              <a:rPr sz="2800" b="1" i="0">
                <a:solidFill>
                  <a:srgbClr val="FFFFFF"/>
                </a:solidFill>
                <a:latin typeface="Aptos"/>
              </a:rPr>
              <a:t>Halfmile First-Break Picking</a:t>
            </a:r>
          </a:p>
        </p:txBody>
      </p:sp>
      <p:sp>
        <p:nvSpPr>
          <p:cNvPr id="4" name="TextBox 3"/>
          <p:cNvSpPr txBox="1"/>
          <p:nvPr/>
        </p:nvSpPr>
        <p:spPr>
          <a:xfrm>
            <a:off x="640080" y="2011680"/>
            <a:ext cx="10637215" cy="1645920"/>
          </a:xfrm>
          <a:prstGeom prst="rect">
            <a:avLst/>
          </a:prstGeom>
          <a:noFill/>
          <a:ln>
            <a:noFill/>
          </a:ln>
        </p:spPr>
        <p:txBody>
          <a:bodyPr wrap="square" lIns="0" rIns="0" tIns="0" bIns="0" anchor="t">
            <a:spAutoFit/>
          </a:bodyPr>
          <a:lstStyle/>
          <a:p>
            <a:pPr algn="l"/>
            <a:r>
              <a:rPr sz="1800" b="0" i="0">
                <a:solidFill>
                  <a:srgbClr val="FFFFFF"/>
                </a:solidFill>
                <a:latin typeface="Aptos"/>
              </a:rPr>
              <a:t>Presentation source for a 25-35 minute technical talk. All metrics and artifact paths below come from the current shot-disjoint Halfmile run in this repository.</a:t>
            </a:r>
          </a:p>
        </p:txBody>
      </p:sp>
      <p:sp>
        <p:nvSpPr>
          <p:cNvPr id="5" name="TextBox 4"/>
          <p:cNvSpPr txBox="1"/>
          <p:nvPr/>
        </p:nvSpPr>
        <p:spPr>
          <a:xfrm>
            <a:off x="640080" y="6446520"/>
            <a:ext cx="10911535" cy="182880"/>
          </a:xfrm>
          <a:prstGeom prst="rect">
            <a:avLst/>
          </a:prstGeom>
          <a:noFill/>
          <a:ln>
            <a:noFill/>
          </a:ln>
        </p:spPr>
        <p:txBody>
          <a:bodyPr wrap="square" lIns="0" rIns="0" tIns="0" bIns="0" anchor="t">
            <a:spAutoFit/>
          </a:bodyPr>
          <a:lstStyle/>
          <a:p>
            <a:pPr algn="l"/>
            <a:r>
              <a:rPr sz="1000" b="0" i="0">
                <a:solidFill>
                  <a:srgbClr val="D6E1F0"/>
                </a:solidFill>
                <a:latin typeface="Aptos"/>
              </a:rPr>
              <a:t>Autogenerated from Markdown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 Problem Statement and Goal</a:t>
            </a:r>
          </a:p>
        </p:txBody>
      </p:sp>
      <p:sp>
        <p:nvSpPr>
          <p:cNvPr id="5" name="TextBox 4"/>
          <p:cNvSpPr txBox="1"/>
          <p:nvPr/>
        </p:nvSpPr>
        <p:spPr>
          <a:xfrm>
            <a:off x="457200" y="1143000"/>
            <a:ext cx="11277295" cy="1813560"/>
          </a:xfrm>
          <a:prstGeom prst="rect">
            <a:avLst/>
          </a:prstGeom>
          <a:noFill/>
          <a:ln>
            <a:noFill/>
          </a:ln>
        </p:spPr>
        <p:txBody>
          <a:bodyPr wrap="square" lIns="0" rIns="0" tIns="0" bIns="0">
            <a:spAutoFit/>
          </a:bodyPr>
          <a:lstStyle/>
          <a:p>
            <a:pPr>
              <a:defRPr sz="1800">
                <a:solidFill>
                  <a:srgbClr val="262626"/>
                </a:solidFill>
                <a:latin typeface="Aptos"/>
              </a:defRPr>
            </a:pPr>
            <a:r>
              <a:t>Objective: detect seismic first breaks automatically from labeled HDF5 trace data.</a:t>
            </a:r>
          </a:p>
          <a:p>
            <a:pPr>
              <a:defRPr sz="1800">
                <a:solidFill>
                  <a:srgbClr val="262626"/>
                </a:solidFill>
                <a:latin typeface="Aptos"/>
              </a:defRPr>
            </a:pPr>
            <a:r>
              <a:t>Business value: first-break quality affects downstream statics, refraction analysis, and tomography workflows.</a:t>
            </a:r>
          </a:p>
          <a:p>
            <a:pPr>
              <a:defRPr sz="1800">
                <a:solidFill>
                  <a:srgbClr val="262626"/>
                </a:solidFill>
                <a:latin typeface="Aptos"/>
              </a:defRPr>
            </a:pPr>
            <a:r>
              <a:t>Technical requirement: reconstruct usable 2D seismic images from flat trace storage, then predict picks robustly under variable noise and changing line behavior.</a:t>
            </a:r>
          </a:p>
          <a:p>
            <a:pPr>
              <a:defRPr sz="1800">
                <a:solidFill>
                  <a:srgbClr val="262626"/>
                </a:solidFill>
                <a:latin typeface="Aptos"/>
              </a:defRPr>
            </a:pPr>
            <a:r>
              <a:t>Constraint: this implementation is CPU-only because the local environment has no GPU.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2. Dataset Overview and HDF5 Structure</a:t>
            </a:r>
          </a:p>
        </p:txBody>
      </p:sp>
      <p:sp>
        <p:nvSpPr>
          <p:cNvPr id="5" name="TextBox 4"/>
          <p:cNvSpPr txBox="1"/>
          <p:nvPr/>
        </p:nvSpPr>
        <p:spPr>
          <a:xfrm>
            <a:off x="457200" y="1143000"/>
            <a:ext cx="11277295" cy="2217420"/>
          </a:xfrm>
          <a:prstGeom prst="rect">
            <a:avLst/>
          </a:prstGeom>
          <a:noFill/>
          <a:ln>
            <a:noFill/>
          </a:ln>
        </p:spPr>
        <p:txBody>
          <a:bodyPr wrap="square" lIns="0" rIns="0" tIns="0" bIns="0">
            <a:spAutoFit/>
          </a:bodyPr>
          <a:lstStyle/>
          <a:p>
            <a:pPr>
              <a:defRPr sz="1800">
                <a:solidFill>
                  <a:srgbClr val="262626"/>
                </a:solidFill>
                <a:latin typeface="Aptos"/>
              </a:defRPr>
            </a:pPr>
            <a:r>
              <a:t>Target assets in the task: Brunswick, Halfmile, Lalor, Sudbury.</a:t>
            </a:r>
          </a:p>
          <a:p>
            <a:pPr>
              <a:defRPr sz="1800">
                <a:solidFill>
                  <a:srgbClr val="262626"/>
                </a:solidFill>
                <a:latin typeface="Aptos"/>
              </a:defRPr>
            </a:pPr>
            <a:r>
              <a:t>Local verified asset: Halfmile only.</a:t>
            </a:r>
          </a:p>
          <a:p>
            <a:pPr>
              <a:defRPr sz="1800">
                <a:solidFill>
                  <a:srgbClr val="262626"/>
                </a:solidFill>
                <a:latin typeface="Aptos"/>
              </a:defRPr>
            </a:pPr>
            <a:r>
              <a:t>Halfmile raw file contains 1,099,559 traces, each with 751 samples at 2.0 ms.</a:t>
            </a:r>
          </a:p>
          <a:p>
            <a:pPr>
              <a:defRPr sz="1800">
                <a:solidFill>
                  <a:srgbClr val="262626"/>
                </a:solidFill>
                <a:latin typeface="Aptos"/>
              </a:defRPr>
            </a:pPr>
            <a:r>
              <a:t>Label field is SPARE1 in milliseconds; 0 or -1 means unlabeled.</a:t>
            </a:r>
          </a:p>
          <a:p>
            <a:pPr>
              <a:defRPr sz="1800">
                <a:solidFill>
                  <a:srgbClr val="262626"/>
                </a:solidFill>
                <a:latin typeface="Aptos"/>
              </a:defRPr>
            </a:pPr>
            <a:r>
              <a:t>Halfmile label coverage is 90.33% with 993,189 labeled traces across 690 shots.</a:t>
            </a:r>
          </a:p>
          <a:p>
            <a:pPr>
              <a:defRPr sz="1800">
                <a:solidFill>
                  <a:srgbClr val="262626"/>
                </a:solidFill>
                <a:latin typeface="Aptos"/>
              </a:defRPr>
            </a:pPr>
            <a:r>
              <a:t>Relevant geometry fields include SHOTID, SHOT_PEG, REC_PEG, REC_X, REC_Y, SOURCE_X, SOURCE_Y, COORD_SCALE, and HT_SCALE.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2. Dataset Overview and HDF5 Structure (Cont.)</a:t>
            </a:r>
          </a:p>
        </p:txBody>
      </p:sp>
      <p:sp>
        <p:nvSpPr>
          <p:cNvPr id="5" name="Rounded Rectangle 4"/>
          <p:cNvSpPr/>
          <p:nvPr/>
        </p:nvSpPr>
        <p:spPr>
          <a:xfrm>
            <a:off x="457200" y="1143000"/>
            <a:ext cx="11277295" cy="457200"/>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reference: reports/evaluation/methodology_results_summary.md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3. Why 2D Seismic Images Must Be Reconstructed</a:t>
            </a:r>
          </a:p>
        </p:txBody>
      </p:sp>
      <p:sp>
        <p:nvSpPr>
          <p:cNvPr id="5" name="TextBox 4"/>
          <p:cNvSpPr txBox="1"/>
          <p:nvPr/>
        </p:nvSpPr>
        <p:spPr>
          <a:xfrm>
            <a:off x="457200" y="1143000"/>
            <a:ext cx="11277295" cy="2065020"/>
          </a:xfrm>
          <a:prstGeom prst="rect">
            <a:avLst/>
          </a:prstGeom>
          <a:noFill/>
          <a:ln>
            <a:noFill/>
          </a:ln>
        </p:spPr>
        <p:txBody>
          <a:bodyPr wrap="square" lIns="0" rIns="0" tIns="0" bIns="0">
            <a:spAutoFit/>
          </a:bodyPr>
          <a:lstStyle/>
          <a:p>
            <a:pPr>
              <a:defRPr sz="1800">
                <a:solidFill>
                  <a:srgbClr val="262626"/>
                </a:solidFill>
                <a:latin typeface="Aptos"/>
              </a:defRPr>
            </a:pPr>
            <a:r>
              <a:t>The HDF5 file stores traces in a flat table, not as final shot images.</a:t>
            </a:r>
          </a:p>
          <a:p>
            <a:pPr>
              <a:defRPr sz="1800">
                <a:solidFill>
                  <a:srgbClr val="262626"/>
                </a:solidFill>
                <a:latin typeface="Aptos"/>
              </a:defRPr>
            </a:pPr>
            <a:r>
              <a:t>First-break behavior is easier to model when traces are placed in receiver order within each shot.</a:t>
            </a:r>
          </a:p>
          <a:p>
            <a:pPr>
              <a:defRPr sz="1800">
                <a:solidFill>
                  <a:srgbClr val="262626"/>
                </a:solidFill>
                <a:latin typeface="Aptos"/>
              </a:defRPr>
            </a:pPr>
            <a:r>
              <a:t>Receiver geometry also reveals large gaps that should split one shot into multiple coherent 2D panels.</a:t>
            </a:r>
          </a:p>
          <a:p>
            <a:pPr>
              <a:defRPr sz="1800">
                <a:solidFill>
                  <a:srgbClr val="262626"/>
                </a:solidFill>
                <a:latin typeface="Aptos"/>
              </a:defRPr>
            </a:pPr>
            <a:r>
              <a:t>Without reconstruction, neighboring traces in memory are not guaranteed to be meaningful neighbors in the image domain.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3. Why 2D Seismic Images Must Be Reconstructed (Cont.)</a:t>
            </a:r>
          </a:p>
        </p:txBody>
      </p:sp>
      <p:pic>
        <p:nvPicPr>
          <p:cNvPr id="5" name="Picture 4" descr="shot_20021449_segment_00.png"/>
          <p:cNvPicPr>
            <a:picLocks noChangeAspect="1"/>
          </p:cNvPicPr>
          <p:nvPr/>
        </p:nvPicPr>
        <p:blipFill>
          <a:blip r:embed="rId3"/>
          <a:stretch>
            <a:fillRect/>
          </a:stretch>
        </p:blipFill>
        <p:spPr>
          <a:xfrm>
            <a:off x="457200" y="1348677"/>
            <a:ext cx="11277295" cy="4698872"/>
          </a:xfrm>
          <a:prstGeom prst="rect">
            <a:avLst/>
          </a:prstGeom>
        </p:spPr>
      </p:pic>
      <p:sp>
        <p:nvSpPr>
          <p:cNvPr id="6" name="Rounded Rectangle 5"/>
          <p:cNvSpPr/>
          <p:nvPr/>
        </p:nvSpPr>
        <p:spPr>
          <a:xfrm>
            <a:off x="457200" y="6326378"/>
            <a:ext cx="11277295" cy="257302"/>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source: reports/figures/split_preview_20021449/shot_20021449_segment_00.png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4. Halfmile Data Preparation and Segment Export</a:t>
            </a:r>
          </a:p>
        </p:txBody>
      </p:sp>
      <p:sp>
        <p:nvSpPr>
          <p:cNvPr id="5" name="TextBox 4"/>
          <p:cNvSpPr txBox="1"/>
          <p:nvPr/>
        </p:nvSpPr>
        <p:spPr>
          <a:xfrm>
            <a:off x="457200" y="1143000"/>
            <a:ext cx="11277295" cy="1638300"/>
          </a:xfrm>
          <a:prstGeom prst="rect">
            <a:avLst/>
          </a:prstGeom>
          <a:noFill/>
          <a:ln>
            <a:noFill/>
          </a:ln>
        </p:spPr>
        <p:txBody>
          <a:bodyPr wrap="square" lIns="0" rIns="0" tIns="0" bIns="0">
            <a:spAutoFit/>
          </a:bodyPr>
          <a:lstStyle/>
          <a:p>
            <a:pPr>
              <a:defRPr sz="1800">
                <a:solidFill>
                  <a:srgbClr val="262626"/>
                </a:solidFill>
                <a:latin typeface="Aptos"/>
              </a:defRPr>
            </a:pPr>
            <a:r>
              <a:t>Group traces by shot using SHOTID, with SHOT_PEG fallback for asset readiness.</a:t>
            </a:r>
          </a:p>
          <a:p>
            <a:pPr>
              <a:defRPr sz="1800">
                <a:solidFill>
                  <a:srgbClr val="262626"/>
                </a:solidFill>
                <a:latin typeface="Aptos"/>
              </a:defRPr>
            </a:pPr>
            <a:r>
              <a:t>Apply SEG-Y scaling rules to coordinates and elevations before using geometry.</a:t>
            </a:r>
          </a:p>
          <a:p>
            <a:pPr>
              <a:defRPr sz="1800">
                <a:solidFill>
                  <a:srgbClr val="262626"/>
                </a:solidFill>
                <a:latin typeface="Aptos"/>
              </a:defRPr>
            </a:pPr>
            <a:r>
              <a:t>Within each shot, sort by REC_PEG; if receiver peg is not informative, fall back to REC_X.</a:t>
            </a:r>
          </a:p>
          <a:p>
            <a:pPr>
              <a:defRPr sz="1800">
                <a:solidFill>
                  <a:srgbClr val="262626"/>
                </a:solidFill>
                <a:latin typeface="Aptos"/>
              </a:defRPr>
            </a:pPr>
            <a:r>
              <a:t>Detect large geometry jumps with jump_factor=8.0 and split into separate segments.</a:t>
            </a:r>
          </a:p>
          <a:p>
            <a:pPr>
              <a:defRPr sz="1800">
                <a:solidFill>
                  <a:srgbClr val="262626"/>
                </a:solidFill>
                <a:latin typeface="Aptos"/>
              </a:defRPr>
            </a:pPr>
            <a:r>
              <a:t>Keep only usable segments with at least 80 traces and at least 70 valid labels.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4. Halfmile Data Preparation and Segment Export (Cont.)</a:t>
            </a:r>
          </a:p>
        </p:txBody>
      </p:sp>
      <p:pic>
        <p:nvPicPr>
          <p:cNvPr id="5" name="Picture 4" descr="Halfmile_shot20241112_seg003.png"/>
          <p:cNvPicPr>
            <a:picLocks noChangeAspect="1"/>
          </p:cNvPicPr>
          <p:nvPr/>
        </p:nvPicPr>
        <p:blipFill>
          <a:blip r:embed="rId3"/>
          <a:stretch>
            <a:fillRect/>
          </a:stretch>
        </p:blipFill>
        <p:spPr>
          <a:xfrm>
            <a:off x="457200" y="1348677"/>
            <a:ext cx="11277295" cy="4698872"/>
          </a:xfrm>
          <a:prstGeom prst="rect">
            <a:avLst/>
          </a:prstGeom>
        </p:spPr>
      </p:pic>
      <p:sp>
        <p:nvSpPr>
          <p:cNvPr id="6" name="Rounded Rectangle 5"/>
          <p:cNvSpPr/>
          <p:nvPr/>
        </p:nvSpPr>
        <p:spPr>
          <a:xfrm>
            <a:off x="457200" y="6326378"/>
            <a:ext cx="11277295" cy="257302"/>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source: reports/figures/exported_segment_previews/Halfmile_shot20241112_seg003.png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5. Label Coverage and Segmentation Statistics</a:t>
            </a:r>
          </a:p>
        </p:txBody>
      </p:sp>
      <p:sp>
        <p:nvSpPr>
          <p:cNvPr id="5" name="TextBox 4"/>
          <p:cNvSpPr txBox="1"/>
          <p:nvPr/>
        </p:nvSpPr>
        <p:spPr>
          <a:xfrm>
            <a:off x="457200" y="1143000"/>
            <a:ext cx="11277295" cy="1889760"/>
          </a:xfrm>
          <a:prstGeom prst="rect">
            <a:avLst/>
          </a:prstGeom>
          <a:noFill/>
          <a:ln>
            <a:noFill/>
          </a:ln>
        </p:spPr>
        <p:txBody>
          <a:bodyPr wrap="square" lIns="0" rIns="0" tIns="0" bIns="0">
            <a:spAutoFit/>
          </a:bodyPr>
          <a:lstStyle/>
          <a:p>
            <a:pPr>
              <a:defRPr sz="1800">
                <a:solidFill>
                  <a:srgbClr val="262626"/>
                </a:solidFill>
                <a:latin typeface="Aptos"/>
              </a:defRPr>
            </a:pPr>
            <a:r>
              <a:t>Final export produced 5,391 Halfmile segments.</a:t>
            </a:r>
          </a:p>
          <a:p>
            <a:pPr>
              <a:defRPr sz="1800">
                <a:solidFill>
                  <a:srgbClr val="262626"/>
                </a:solidFill>
                <a:latin typeface="Aptos"/>
              </a:defRPr>
            </a:pPr>
            <a:r>
              <a:t>689 shots remained after segment filtering; 1 raw shot produced no retained segment.</a:t>
            </a:r>
          </a:p>
          <a:p>
            <a:pPr>
              <a:defRPr sz="1800">
                <a:solidFill>
                  <a:srgbClr val="262626"/>
                </a:solidFill>
                <a:latin typeface="Aptos"/>
              </a:defRPr>
            </a:pPr>
            <a:r>
              <a:t>Segment trace count ranges from 97 to 201, with mean 149.51.</a:t>
            </a:r>
          </a:p>
          <a:p>
            <a:pPr>
              <a:defRPr sz="1800">
                <a:solidFill>
                  <a:srgbClr val="262626"/>
                </a:solidFill>
                <a:latin typeface="Aptos"/>
              </a:defRPr>
            </a:pPr>
            <a:r>
              <a:t>Valid labels per segment range from 70 to 201, with mean 135.32.</a:t>
            </a:r>
          </a:p>
          <a:p>
            <a:pPr>
              <a:defRPr sz="1800">
                <a:solidFill>
                  <a:srgbClr val="262626"/>
                </a:solidFill>
                <a:latin typeface="Aptos"/>
              </a:defRPr>
            </a:pPr>
            <a:r>
              <a:t>The resulting segments are large enough to preserve local structure but small enough for CPU-friendly repeated inference.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5. Label Coverage and Segmentation Statistics (Cont.)</a:t>
            </a:r>
          </a:p>
        </p:txBody>
      </p:sp>
      <p:sp>
        <p:nvSpPr>
          <p:cNvPr id="5" name="Rounded Rectangle 4"/>
          <p:cNvSpPr/>
          <p:nvPr/>
        </p:nvSpPr>
        <p:spPr>
          <a:xfrm>
            <a:off x="457200" y="1143000"/>
            <a:ext cx="11277295" cy="457200"/>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reference: reports/evaluation/methodology_results_summary.md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6. Baseline First-Break Picker Methodology</a:t>
            </a:r>
          </a:p>
        </p:txBody>
      </p:sp>
      <p:sp>
        <p:nvSpPr>
          <p:cNvPr id="5" name="TextBox 4"/>
          <p:cNvSpPr txBox="1"/>
          <p:nvPr/>
        </p:nvSpPr>
        <p:spPr>
          <a:xfrm>
            <a:off x="457200" y="1143000"/>
            <a:ext cx="11277295" cy="1638300"/>
          </a:xfrm>
          <a:prstGeom prst="rect">
            <a:avLst/>
          </a:prstGeom>
          <a:noFill/>
          <a:ln>
            <a:noFill/>
          </a:ln>
        </p:spPr>
        <p:txBody>
          <a:bodyPr wrap="square" lIns="0" rIns="0" tIns="0" bIns="0">
            <a:spAutoFit/>
          </a:bodyPr>
          <a:lstStyle/>
          <a:p>
            <a:pPr>
              <a:defRPr sz="1800">
                <a:solidFill>
                  <a:srgbClr val="262626"/>
                </a:solidFill>
                <a:latin typeface="Aptos"/>
              </a:defRPr>
            </a:pPr>
            <a:r>
              <a:t>Step 1: compute a smoothed envelope on each trace.</a:t>
            </a:r>
          </a:p>
          <a:p>
            <a:pPr>
              <a:defRPr sz="1800">
                <a:solidFill>
                  <a:srgbClr val="262626"/>
                </a:solidFill>
                <a:latin typeface="Aptos"/>
              </a:defRPr>
            </a:pPr>
            <a:r>
              <a:t>Step 2: estimate early-time noise and trigger a rough pick using a threshold crossing.</a:t>
            </a:r>
          </a:p>
          <a:p>
            <a:pPr>
              <a:defRPr sz="1800">
                <a:solidFill>
                  <a:srgbClr val="262626"/>
                </a:solidFill>
                <a:latin typeface="Aptos"/>
              </a:defRPr>
            </a:pPr>
            <a:r>
              <a:t>Step 3: smooth the rough pick line across traces to create a prior.</a:t>
            </a:r>
          </a:p>
          <a:p>
            <a:pPr>
              <a:defRPr sz="1800">
                <a:solidFill>
                  <a:srgbClr val="262626"/>
                </a:solidFill>
                <a:latin typeface="Aptos"/>
              </a:defRPr>
            </a:pPr>
            <a:r>
              <a:t>Step 4: refine each trace locally with a derivative-based search around the prior.</a:t>
            </a:r>
          </a:p>
          <a:p>
            <a:pPr>
              <a:defRPr sz="1800">
                <a:solidFill>
                  <a:srgbClr val="262626"/>
                </a:solidFill>
                <a:latin typeface="Aptos"/>
              </a:defRPr>
            </a:pPr>
            <a:r>
              <a:t>Step 5: smooth the final line again to suppress isolated trace noise.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6. Baseline First-Break Picker Methodology (Cont.)</a:t>
            </a:r>
          </a:p>
        </p:txBody>
      </p:sp>
      <p:pic>
        <p:nvPicPr>
          <p:cNvPr id="5" name="Picture 4" descr="baseline_refined_preview_shot20241112_seg003.png"/>
          <p:cNvPicPr>
            <a:picLocks noChangeAspect="1"/>
          </p:cNvPicPr>
          <p:nvPr/>
        </p:nvPicPr>
        <p:blipFill>
          <a:blip r:embed="rId3"/>
          <a:stretch>
            <a:fillRect/>
          </a:stretch>
        </p:blipFill>
        <p:spPr>
          <a:xfrm>
            <a:off x="457200" y="1348677"/>
            <a:ext cx="11277295" cy="4698872"/>
          </a:xfrm>
          <a:prstGeom prst="rect">
            <a:avLst/>
          </a:prstGeom>
        </p:spPr>
      </p:pic>
      <p:sp>
        <p:nvSpPr>
          <p:cNvPr id="6" name="Rounded Rectangle 5"/>
          <p:cNvSpPr/>
          <p:nvPr/>
        </p:nvSpPr>
        <p:spPr>
          <a:xfrm>
            <a:off x="457200" y="6326378"/>
            <a:ext cx="11277295" cy="257302"/>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source: reports/figures/baseline_refined_preview_shot20241112_seg003.png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7. Why the Baseline Needs Correction</a:t>
            </a:r>
          </a:p>
        </p:txBody>
      </p:sp>
      <p:sp>
        <p:nvSpPr>
          <p:cNvPr id="5" name="TextBox 4"/>
          <p:cNvSpPr txBox="1"/>
          <p:nvPr/>
        </p:nvSpPr>
        <p:spPr>
          <a:xfrm>
            <a:off x="457200" y="1143000"/>
            <a:ext cx="11277295" cy="2065020"/>
          </a:xfrm>
          <a:prstGeom prst="rect">
            <a:avLst/>
          </a:prstGeom>
          <a:noFill/>
          <a:ln>
            <a:noFill/>
          </a:ln>
        </p:spPr>
        <p:txBody>
          <a:bodyPr wrap="square" lIns="0" rIns="0" tIns="0" bIns="0">
            <a:spAutoFit/>
          </a:bodyPr>
          <a:lstStyle/>
          <a:p>
            <a:pPr>
              <a:defRPr sz="1800">
                <a:solidFill>
                  <a:srgbClr val="262626"/>
                </a:solidFill>
                <a:latin typeface="Aptos"/>
              </a:defRPr>
            </a:pPr>
            <a:r>
              <a:t>The refined baseline is consistent on many segments but still drifts under strong noise or structural complexity.</a:t>
            </a:r>
          </a:p>
          <a:p>
            <a:pPr>
              <a:defRPr sz="1800">
                <a:solidFill>
                  <a:srgbClr val="262626"/>
                </a:solidFill>
                <a:latin typeface="Aptos"/>
              </a:defRPr>
            </a:pPr>
            <a:r>
              <a:t>Errors are often locally systematic rather than random, which makes them good candidates for a learned correction model.</a:t>
            </a:r>
          </a:p>
          <a:p>
            <a:pPr>
              <a:defRPr sz="1800">
                <a:solidFill>
                  <a:srgbClr val="262626"/>
                </a:solidFill>
                <a:latin typeface="Aptos"/>
              </a:defRPr>
            </a:pPr>
            <a:r>
              <a:t>Predicting a bounded correction is easier on CPU than training a full deep network from scratch.</a:t>
            </a:r>
          </a:p>
          <a:p>
            <a:pPr>
              <a:defRPr sz="1800">
                <a:solidFill>
                  <a:srgbClr val="262626"/>
                </a:solidFill>
                <a:latin typeface="Aptos"/>
              </a:defRPr>
            </a:pPr>
            <a:r>
              <a:t>This two-stage design also preserves a usable fallback line if the learned stage fails.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7. Why the Baseline Needs Correction (Cont.)</a:t>
            </a:r>
          </a:p>
        </p:txBody>
      </p:sp>
      <p:pic>
        <p:nvPicPr>
          <p:cNvPr id="5" name="Picture 4" descr="regression_Halfmile_shot20121514_seg024.png"/>
          <p:cNvPicPr>
            <a:picLocks noChangeAspect="1"/>
          </p:cNvPicPr>
          <p:nvPr/>
        </p:nvPicPr>
        <p:blipFill>
          <a:blip r:embed="rId3"/>
          <a:stretch>
            <a:fillRect/>
          </a:stretch>
        </p:blipFill>
        <p:spPr>
          <a:xfrm>
            <a:off x="457200" y="1348677"/>
            <a:ext cx="11277295" cy="4698872"/>
          </a:xfrm>
          <a:prstGeom prst="rect">
            <a:avLst/>
          </a:prstGeom>
        </p:spPr>
      </p:pic>
      <p:sp>
        <p:nvSpPr>
          <p:cNvPr id="6" name="Rounded Rectangle 5"/>
          <p:cNvSpPr/>
          <p:nvPr/>
        </p:nvSpPr>
        <p:spPr>
          <a:xfrm>
            <a:off x="457200" y="6326378"/>
            <a:ext cx="11277295" cy="257302"/>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source: reports/evaluation/figures/regression_Halfmile_shot20121514_seg024.png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8. ML Correction Dataset Design</a:t>
            </a:r>
          </a:p>
        </p:txBody>
      </p:sp>
      <p:sp>
        <p:nvSpPr>
          <p:cNvPr id="5" name="TextBox 4"/>
          <p:cNvSpPr txBox="1"/>
          <p:nvPr/>
        </p:nvSpPr>
        <p:spPr>
          <a:xfrm>
            <a:off x="457200" y="1143000"/>
            <a:ext cx="11277295" cy="1889760"/>
          </a:xfrm>
          <a:prstGeom prst="rect">
            <a:avLst/>
          </a:prstGeom>
          <a:noFill/>
          <a:ln>
            <a:noFill/>
          </a:ln>
        </p:spPr>
        <p:txBody>
          <a:bodyPr wrap="square" lIns="0" rIns="0" tIns="0" bIns="0">
            <a:spAutoFit/>
          </a:bodyPr>
          <a:lstStyle/>
          <a:p>
            <a:pPr>
              <a:defRPr sz="1800">
                <a:solidFill>
                  <a:srgbClr val="262626"/>
                </a:solidFill>
                <a:latin typeface="Aptos"/>
              </a:defRPr>
            </a:pPr>
            <a:r>
              <a:t>For each valid trace, build a patch centered on the baseline pick.</a:t>
            </a:r>
          </a:p>
          <a:p>
            <a:pPr>
              <a:defRPr sz="1800">
                <a:solidFill>
                  <a:srgbClr val="262626"/>
                </a:solidFill>
                <a:latin typeface="Aptos"/>
              </a:defRPr>
            </a:pPr>
            <a:r>
              <a:t>Patch size is 81 x 5, which captures time context and a small neighborhood of adjacent traces.</a:t>
            </a:r>
          </a:p>
          <a:p>
            <a:pPr>
              <a:defRPr sz="1800">
                <a:solidFill>
                  <a:srgbClr val="262626"/>
                </a:solidFill>
                <a:latin typeface="Aptos"/>
              </a:defRPr>
            </a:pPr>
            <a:r>
              <a:t>Flatten each patch into 405 tabular features.</a:t>
            </a:r>
          </a:p>
          <a:p>
            <a:pPr>
              <a:defRPr sz="1800">
                <a:solidFill>
                  <a:srgbClr val="262626"/>
                </a:solidFill>
                <a:latin typeface="Aptos"/>
              </a:defRPr>
            </a:pPr>
            <a:r>
              <a:t>Sample every third valid trace with trace_stride=3.</a:t>
            </a:r>
          </a:p>
          <a:p>
            <a:pPr>
              <a:defRPr sz="1800">
                <a:solidFill>
                  <a:srgbClr val="262626"/>
                </a:solidFill>
                <a:latin typeface="Aptos"/>
              </a:defRPr>
            </a:pPr>
            <a:r>
              <a:t>Discard extreme labels where |true - baseline| &gt; 60 samples to avoid making the model chase rare outliers.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9. CPU-First Model Choice and Training Setup</a:t>
            </a:r>
          </a:p>
        </p:txBody>
      </p:sp>
      <p:sp>
        <p:nvSpPr>
          <p:cNvPr id="5" name="TextBox 4"/>
          <p:cNvSpPr txBox="1"/>
          <p:nvPr/>
        </p:nvSpPr>
        <p:spPr>
          <a:xfrm>
            <a:off x="457200" y="1143000"/>
            <a:ext cx="11277295" cy="1638300"/>
          </a:xfrm>
          <a:prstGeom prst="rect">
            <a:avLst/>
          </a:prstGeom>
          <a:noFill/>
          <a:ln>
            <a:noFill/>
          </a:ln>
        </p:spPr>
        <p:txBody>
          <a:bodyPr wrap="square" lIns="0" rIns="0" tIns="0" bIns="0">
            <a:spAutoFit/>
          </a:bodyPr>
          <a:lstStyle/>
          <a:p>
            <a:pPr>
              <a:defRPr sz="1800">
                <a:solidFill>
                  <a:srgbClr val="262626"/>
                </a:solidFill>
                <a:latin typeface="Aptos"/>
              </a:defRPr>
            </a:pPr>
            <a:r>
              <a:t>Model family: HistGradientBoostingRegressor.</a:t>
            </a:r>
          </a:p>
          <a:p>
            <a:pPr>
              <a:defRPr sz="1800">
                <a:solidFill>
                  <a:srgbClr val="262626"/>
                </a:solidFill>
                <a:latin typeface="Aptos"/>
              </a:defRPr>
            </a:pPr>
            <a:r>
              <a:t>Training datasets: 146,767 train examples and 21,354 validation examples.</a:t>
            </a:r>
          </a:p>
          <a:p>
            <a:pPr>
              <a:defRPr sz="1800">
                <a:solidFill>
                  <a:srgbClr val="262626"/>
                </a:solidFill>
                <a:latin typeface="Aptos"/>
              </a:defRPr>
            </a:pPr>
            <a:r>
              <a:t>Four small candidate configurations were tested on the validation split.</a:t>
            </a:r>
          </a:p>
          <a:p>
            <a:pPr>
              <a:defRPr sz="1800">
                <a:solidFill>
                  <a:srgbClr val="262626"/>
                </a:solidFill>
                <a:latin typeface="Aptos"/>
              </a:defRPr>
            </a:pPr>
            <a:r>
              <a:t>Final model is refit on combined train plus validation examples after selection.</a:t>
            </a:r>
          </a:p>
          <a:p>
            <a:pPr>
              <a:defRPr sz="1800">
                <a:solidFill>
                  <a:srgbClr val="262626"/>
                </a:solidFill>
                <a:latin typeface="Aptos"/>
              </a:defRPr>
            </a:pPr>
            <a:r>
              <a:t>No GPU dependency, no deep learning framework, and no expensive hyperparameter sweep.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9. CPU-First Model Choice and Training Setup (Cont.)</a:t>
            </a:r>
          </a:p>
        </p:txBody>
      </p:sp>
      <p:sp>
        <p:nvSpPr>
          <p:cNvPr id="5" name="Rounded Rectangle 4"/>
          <p:cNvSpPr/>
          <p:nvPr/>
        </p:nvSpPr>
        <p:spPr>
          <a:xfrm>
            <a:off x="457200" y="1143000"/>
            <a:ext cx="11277295" cy="457200"/>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reference: reports/evaluation/methodology_results_summary.md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10. Validation Protocol and Leakage Control</a:t>
            </a:r>
          </a:p>
        </p:txBody>
      </p:sp>
      <p:sp>
        <p:nvSpPr>
          <p:cNvPr id="5" name="TextBox 4"/>
          <p:cNvSpPr txBox="1"/>
          <p:nvPr/>
        </p:nvSpPr>
        <p:spPr>
          <a:xfrm>
            <a:off x="457200" y="1143000"/>
            <a:ext cx="11277295" cy="1889760"/>
          </a:xfrm>
          <a:prstGeom prst="rect">
            <a:avLst/>
          </a:prstGeom>
          <a:noFill/>
          <a:ln>
            <a:noFill/>
          </a:ln>
        </p:spPr>
        <p:txBody>
          <a:bodyPr wrap="square" lIns="0" rIns="0" tIns="0" bIns="0">
            <a:spAutoFit/>
          </a:bodyPr>
          <a:lstStyle/>
          <a:p>
            <a:pPr>
              <a:defRPr sz="1800">
                <a:solidFill>
                  <a:srgbClr val="262626"/>
                </a:solidFill>
                <a:latin typeface="Aptos"/>
              </a:defRPr>
            </a:pPr>
            <a:r>
              <a:t>The original risk in this project was segment-level leakage: segments from the same shot can look too similar across train and test.</a:t>
            </a:r>
          </a:p>
          <a:p>
            <a:pPr>
              <a:defRPr sz="1800">
                <a:solidFill>
                  <a:srgbClr val="262626"/>
                </a:solidFill>
                <a:latin typeface="Aptos"/>
              </a:defRPr>
            </a:pPr>
            <a:r>
              <a:t>The final protocol splits by asset_name + shot_id, not by individual segment file.</a:t>
            </a:r>
          </a:p>
          <a:p>
            <a:pPr>
              <a:defRPr sz="1800">
                <a:solidFill>
                  <a:srgbClr val="262626"/>
                </a:solidFill>
                <a:latin typeface="Aptos"/>
              </a:defRPr>
            </a:pPr>
            <a:r>
              <a:t>Split seed is 42 with ratios 70/10/20.</a:t>
            </a:r>
          </a:p>
          <a:p>
            <a:pPr>
              <a:defRPr sz="1800">
                <a:solidFill>
                  <a:srgbClr val="262626"/>
                </a:solidFill>
                <a:latin typeface="Aptos"/>
              </a:defRPr>
            </a:pPr>
            <a:r>
              <a:t>Result: 482 train shots, 68 validation shots, 139 test shots.</a:t>
            </a:r>
          </a:p>
          <a:p>
            <a:pPr>
              <a:defRPr sz="1800">
                <a:solidFill>
                  <a:srgbClr val="262626"/>
                </a:solidFill>
                <a:latin typeface="Aptos"/>
              </a:defRPr>
            </a:pPr>
            <a:r>
              <a:t>Overlap checks are explicit and all split-pair overlaps are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10. Validation Protocol and Leakage Control (Cont.)</a:t>
            </a:r>
          </a:p>
        </p:txBody>
      </p:sp>
      <p:sp>
        <p:nvSpPr>
          <p:cNvPr id="5" name="Rounded Rectangle 4"/>
          <p:cNvSpPr/>
          <p:nvPr/>
        </p:nvSpPr>
        <p:spPr>
          <a:xfrm>
            <a:off x="457200" y="1143000"/>
            <a:ext cx="11277295" cy="457200"/>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reference: data/processed/splits/split_summary.json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11. Validation Selection Results</a:t>
            </a:r>
          </a:p>
        </p:txBody>
      </p:sp>
      <p:sp>
        <p:nvSpPr>
          <p:cNvPr id="5" name="TextBox 4"/>
          <p:cNvSpPr txBox="1"/>
          <p:nvPr/>
        </p:nvSpPr>
        <p:spPr>
          <a:xfrm>
            <a:off x="457200" y="1143000"/>
            <a:ext cx="11277295" cy="2217420"/>
          </a:xfrm>
          <a:prstGeom prst="rect">
            <a:avLst/>
          </a:prstGeom>
          <a:noFill/>
          <a:ln>
            <a:noFill/>
          </a:ln>
        </p:spPr>
        <p:txBody>
          <a:bodyPr wrap="square" lIns="0" rIns="0" tIns="0" bIns="0">
            <a:spAutoFit/>
          </a:bodyPr>
          <a:lstStyle/>
          <a:p>
            <a:pPr>
              <a:defRPr sz="1800">
                <a:solidFill>
                  <a:srgbClr val="262626"/>
                </a:solidFill>
                <a:latin typeface="Aptos"/>
              </a:defRPr>
            </a:pPr>
            <a:r>
              <a:t>Candidate search metric: corrected MAE on validation correction examples.</a:t>
            </a:r>
          </a:p>
          <a:p>
            <a:pPr>
              <a:defRPr sz="1800">
                <a:solidFill>
                  <a:srgbClr val="262626"/>
                </a:solidFill>
                <a:latin typeface="Aptos"/>
              </a:defRPr>
            </a:pPr>
            <a:r>
              <a:t>Best configuration: learning_rate=0.04, max_iter=260, max_depth=8, min_samples_leaf=25, l2_regularization=0.0.</a:t>
            </a:r>
          </a:p>
          <a:p>
            <a:pPr>
              <a:defRPr sz="1800">
                <a:solidFill>
                  <a:srgbClr val="262626"/>
                </a:solidFill>
                <a:latin typeface="Aptos"/>
              </a:defRPr>
            </a:pPr>
            <a:r>
              <a:t>Best validation baseline MAE: 18.769 ms.</a:t>
            </a:r>
          </a:p>
          <a:p>
            <a:pPr>
              <a:defRPr sz="1800">
                <a:solidFill>
                  <a:srgbClr val="262626"/>
                </a:solidFill>
                <a:latin typeface="Aptos"/>
              </a:defRPr>
            </a:pPr>
            <a:r>
              <a:t>Best validation corrected MAE: 10.643 ms.</a:t>
            </a:r>
          </a:p>
          <a:p>
            <a:pPr>
              <a:defRPr sz="1800">
                <a:solidFill>
                  <a:srgbClr val="262626"/>
                </a:solidFill>
                <a:latin typeface="Aptos"/>
              </a:defRPr>
            </a:pPr>
            <a:r>
              <a:t>Best validation baseline RMSE: 33.427 ms.</a:t>
            </a:r>
          </a:p>
          <a:p>
            <a:pPr>
              <a:defRPr sz="1800">
                <a:solidFill>
                  <a:srgbClr val="262626"/>
                </a:solidFill>
                <a:latin typeface="Aptos"/>
              </a:defRPr>
            </a:pPr>
            <a:r>
              <a:t>Best validation corrected RMSE: 22.079 ms.</a:t>
            </a:r>
          </a:p>
        </p:txBody>
      </p:sp>
      <p:sp>
        <p:nvSpPr>
          <p:cNvPr id="6" name="Rounded Rectangle 5"/>
          <p:cNvSpPr/>
          <p:nvPr/>
        </p:nvSpPr>
        <p:spPr>
          <a:xfrm>
            <a:off x="457200" y="3433572"/>
            <a:ext cx="11277295" cy="257302"/>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Table path: data/processed/ml_correction_training_report.json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12. Quantitative Held-Out Test Results</a:t>
            </a:r>
          </a:p>
        </p:txBody>
      </p:sp>
      <p:sp>
        <p:nvSpPr>
          <p:cNvPr id="5" name="TextBox 4"/>
          <p:cNvSpPr txBox="1"/>
          <p:nvPr/>
        </p:nvSpPr>
        <p:spPr>
          <a:xfrm>
            <a:off x="457200" y="1143000"/>
            <a:ext cx="11277295" cy="982980"/>
          </a:xfrm>
          <a:prstGeom prst="rect">
            <a:avLst/>
          </a:prstGeom>
          <a:noFill/>
          <a:ln>
            <a:noFill/>
          </a:ln>
        </p:spPr>
        <p:txBody>
          <a:bodyPr wrap="square" lIns="0" rIns="0" tIns="0" bIns="0">
            <a:spAutoFit/>
          </a:bodyPr>
          <a:lstStyle/>
          <a:p>
            <a:pPr>
              <a:defRPr sz="1800">
                <a:solidFill>
                  <a:srgbClr val="262626"/>
                </a:solidFill>
                <a:latin typeface="Aptos"/>
              </a:defRPr>
            </a:pPr>
            <a:r>
              <a:t>Test set contains 1,086 held-out segments from 139 shots.</a:t>
            </a:r>
          </a:p>
          <a:p>
            <a:pPr>
              <a:defRPr sz="1800">
                <a:solidFill>
                  <a:srgbClr val="262626"/>
                </a:solidFill>
                <a:latin typeface="Aptos"/>
              </a:defRPr>
            </a:pPr>
            <a:r>
              <a:t>Metrics are computed over 146,594 valid labeled traces.</a:t>
            </a:r>
          </a:p>
          <a:p>
            <a:pPr>
              <a:defRPr sz="1800">
                <a:solidFill>
                  <a:srgbClr val="262626"/>
                </a:solidFill>
                <a:latin typeface="Aptos"/>
              </a:defRPr>
            </a:pPr>
            <a:r>
              <a:t>The ML correction stage improves every reported aggregate metric over the refined baseline.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12. Quantitative Held-Out Test Results (Cont.)</a:t>
            </a:r>
          </a:p>
        </p:txBody>
      </p:sp>
      <p:graphicFrame>
        <p:nvGraphicFramePr>
          <p:cNvPr id="5" name="Table 4"/>
          <p:cNvGraphicFramePr>
            <a:graphicFrameLocks noGrp="1"/>
          </p:cNvGraphicFramePr>
          <p:nvPr/>
        </p:nvGraphicFramePr>
        <p:xfrm>
          <a:off x="457200" y="1143000"/>
          <a:ext cx="11277295" cy="146304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65760">
                <a:tc>
                  <a:txBody>
                    <a:bodyPr/>
                    <a:lstStyle/>
                    <a:p>
                      <a:pPr algn="ctr"/>
                      <a:r>
                        <a:rPr sz="1200" b="1">
                          <a:solidFill>
                            <a:srgbClr val="FFFFFF"/>
                          </a:solidFill>
                          <a:latin typeface="Aptos"/>
                        </a:rPr>
                        <a:t>Method</a:t>
                      </a:r>
                    </a:p>
                  </a:txBody>
                  <a:tcPr>
                    <a:solidFill>
                      <a:srgbClr val="3A3A7C"/>
                    </a:solidFill>
                  </a:tcPr>
                </a:tc>
                <a:tc>
                  <a:txBody>
                    <a:bodyPr/>
                    <a:lstStyle/>
                    <a:p>
                      <a:pPr algn="ctr"/>
                      <a:r>
                        <a:rPr sz="1200" b="1">
                          <a:solidFill>
                            <a:srgbClr val="FFFFFF"/>
                          </a:solidFill>
                          <a:latin typeface="Aptos"/>
                        </a:rPr>
                        <a:t>MAE (ms)</a:t>
                      </a:r>
                    </a:p>
                  </a:txBody>
                  <a:tcPr>
                    <a:solidFill>
                      <a:srgbClr val="3A3A7C"/>
                    </a:solidFill>
                  </a:tcPr>
                </a:tc>
                <a:tc>
                  <a:txBody>
                    <a:bodyPr/>
                    <a:lstStyle/>
                    <a:p>
                      <a:pPr algn="ctr"/>
                      <a:r>
                        <a:rPr sz="1200" b="1">
                          <a:solidFill>
                            <a:srgbClr val="FFFFFF"/>
                          </a:solidFill>
                          <a:latin typeface="Aptos"/>
                        </a:rPr>
                        <a:t>RMSE (ms)</a:t>
                      </a:r>
                    </a:p>
                  </a:txBody>
                  <a:tcPr>
                    <a:solidFill>
                      <a:srgbClr val="3A3A7C"/>
                    </a:solidFill>
                  </a:tcPr>
                </a:tc>
                <a:tc>
                  <a:txBody>
                    <a:bodyPr/>
                    <a:lstStyle/>
                    <a:p>
                      <a:pPr algn="ctr"/>
                      <a:r>
                        <a:rPr sz="1200" b="1">
                          <a:solidFill>
                            <a:srgbClr val="FFFFFF"/>
                          </a:solidFill>
                          <a:latin typeface="Aptos"/>
                        </a:rPr>
                        <a:t>Acc &lt;= 2 ms</a:t>
                      </a:r>
                    </a:p>
                  </a:txBody>
                  <a:tcPr>
                    <a:solidFill>
                      <a:srgbClr val="3A3A7C"/>
                    </a:solidFill>
                  </a:tcPr>
                </a:tc>
                <a:tc>
                  <a:txBody>
                    <a:bodyPr/>
                    <a:lstStyle/>
                    <a:p>
                      <a:pPr algn="ctr"/>
                      <a:r>
                        <a:rPr sz="1200" b="1">
                          <a:solidFill>
                            <a:srgbClr val="FFFFFF"/>
                          </a:solidFill>
                          <a:latin typeface="Aptos"/>
                        </a:rPr>
                        <a:t>Acc &lt;= 4 ms</a:t>
                      </a:r>
                    </a:p>
                  </a:txBody>
                  <a:tcPr>
                    <a:solidFill>
                      <a:srgbClr val="3A3A7C"/>
                    </a:solidFill>
                  </a:tcPr>
                </a:tc>
                <a:tc>
                  <a:txBody>
                    <a:bodyPr/>
                    <a:lstStyle/>
                    <a:p>
                      <a:pPr algn="ctr"/>
                      <a:r>
                        <a:rPr sz="1200" b="1">
                          <a:solidFill>
                            <a:srgbClr val="FFFFFF"/>
                          </a:solidFill>
                          <a:latin typeface="Aptos"/>
                        </a:rPr>
                        <a:t>Acc &lt;= 8 ms</a:t>
                      </a:r>
                    </a:p>
                  </a:txBody>
                  <a:tcPr>
                    <a:solidFill>
                      <a:srgbClr val="3A3A7C"/>
                    </a:solidFill>
                  </a:tcPr>
                </a:tc>
              </a:tr>
              <a:tr h="365760">
                <a:tc>
                  <a:txBody>
                    <a:bodyPr/>
                    <a:lstStyle/>
                    <a:p>
                      <a:pPr algn="ctr"/>
                      <a:r>
                        <a:rPr sz="1150" b="0">
                          <a:solidFill>
                            <a:srgbClr val="262626"/>
                          </a:solidFill>
                          <a:latin typeface="Aptos"/>
                        </a:rPr>
                        <a:t>Refined baseline</a:t>
                      </a:r>
                    </a:p>
                  </a:txBody>
                  <a:tcPr>
                    <a:solidFill>
                      <a:srgbClr val="FFFFFF"/>
                    </a:solidFill>
                  </a:tcPr>
                </a:tc>
                <a:tc>
                  <a:txBody>
                    <a:bodyPr/>
                    <a:lstStyle/>
                    <a:p>
                      <a:pPr algn="ctr"/>
                      <a:r>
                        <a:rPr sz="1150" b="0">
                          <a:solidFill>
                            <a:srgbClr val="262626"/>
                          </a:solidFill>
                          <a:latin typeface="Aptos"/>
                        </a:rPr>
                        <a:t>47.694</a:t>
                      </a:r>
                    </a:p>
                  </a:txBody>
                  <a:tcPr>
                    <a:solidFill>
                      <a:srgbClr val="FFFFFF"/>
                    </a:solidFill>
                  </a:tcPr>
                </a:tc>
                <a:tc>
                  <a:txBody>
                    <a:bodyPr/>
                    <a:lstStyle/>
                    <a:p>
                      <a:pPr algn="ctr"/>
                      <a:r>
                        <a:rPr sz="1150" b="0">
                          <a:solidFill>
                            <a:srgbClr val="262626"/>
                          </a:solidFill>
                          <a:latin typeface="Aptos"/>
                        </a:rPr>
                        <a:t>96.458</a:t>
                      </a:r>
                    </a:p>
                  </a:txBody>
                  <a:tcPr>
                    <a:solidFill>
                      <a:srgbClr val="FFFFFF"/>
                    </a:solidFill>
                  </a:tcPr>
                </a:tc>
                <a:tc>
                  <a:txBody>
                    <a:bodyPr/>
                    <a:lstStyle/>
                    <a:p>
                      <a:pPr algn="ctr"/>
                      <a:r>
                        <a:rPr sz="1150" b="0">
                          <a:solidFill>
                            <a:srgbClr val="262626"/>
                          </a:solidFill>
                          <a:latin typeface="Aptos"/>
                        </a:rPr>
                        <a:t>22.662%</a:t>
                      </a:r>
                    </a:p>
                  </a:txBody>
                  <a:tcPr>
                    <a:solidFill>
                      <a:srgbClr val="FFFFFF"/>
                    </a:solidFill>
                  </a:tcPr>
                </a:tc>
                <a:tc>
                  <a:txBody>
                    <a:bodyPr/>
                    <a:lstStyle/>
                    <a:p>
                      <a:pPr algn="ctr"/>
                      <a:r>
                        <a:rPr sz="1150" b="0">
                          <a:solidFill>
                            <a:srgbClr val="262626"/>
                          </a:solidFill>
                          <a:latin typeface="Aptos"/>
                        </a:rPr>
                        <a:t>34.172%</a:t>
                      </a:r>
                    </a:p>
                  </a:txBody>
                  <a:tcPr>
                    <a:solidFill>
                      <a:srgbClr val="FFFFFF"/>
                    </a:solidFill>
                  </a:tcPr>
                </a:tc>
                <a:tc>
                  <a:txBody>
                    <a:bodyPr/>
                    <a:lstStyle/>
                    <a:p>
                      <a:pPr algn="ctr"/>
                      <a:r>
                        <a:rPr sz="1150" b="0">
                          <a:solidFill>
                            <a:srgbClr val="262626"/>
                          </a:solidFill>
                          <a:latin typeface="Aptos"/>
                        </a:rPr>
                        <a:t>48.610%</a:t>
                      </a:r>
                    </a:p>
                  </a:txBody>
                  <a:tcPr>
                    <a:solidFill>
                      <a:srgbClr val="FFFFFF"/>
                    </a:solidFill>
                  </a:tcPr>
                </a:tc>
              </a:tr>
              <a:tr h="365760">
                <a:tc>
                  <a:txBody>
                    <a:bodyPr/>
                    <a:lstStyle/>
                    <a:p>
                      <a:pPr algn="ctr"/>
                      <a:r>
                        <a:rPr sz="1150" b="0">
                          <a:solidFill>
                            <a:srgbClr val="262626"/>
                          </a:solidFill>
                          <a:latin typeface="Aptos"/>
                        </a:rPr>
                        <a:t>ML corrected</a:t>
                      </a:r>
                    </a:p>
                  </a:txBody>
                  <a:tcPr>
                    <a:solidFill>
                      <a:srgbClr val="F9F9FB"/>
                    </a:solidFill>
                  </a:tcPr>
                </a:tc>
                <a:tc>
                  <a:txBody>
                    <a:bodyPr/>
                    <a:lstStyle/>
                    <a:p>
                      <a:pPr algn="ctr"/>
                      <a:r>
                        <a:rPr sz="1150" b="0">
                          <a:solidFill>
                            <a:srgbClr val="262626"/>
                          </a:solidFill>
                          <a:latin typeface="Aptos"/>
                        </a:rPr>
                        <a:t>37.213</a:t>
                      </a:r>
                    </a:p>
                  </a:txBody>
                  <a:tcPr>
                    <a:solidFill>
                      <a:srgbClr val="F9F9FB"/>
                    </a:solidFill>
                  </a:tcPr>
                </a:tc>
                <a:tc>
                  <a:txBody>
                    <a:bodyPr/>
                    <a:lstStyle/>
                    <a:p>
                      <a:pPr algn="ctr"/>
                      <a:r>
                        <a:rPr sz="1150" b="0">
                          <a:solidFill>
                            <a:srgbClr val="262626"/>
                          </a:solidFill>
                          <a:latin typeface="Aptos"/>
                        </a:rPr>
                        <a:t>87.026</a:t>
                      </a:r>
                    </a:p>
                  </a:txBody>
                  <a:tcPr>
                    <a:solidFill>
                      <a:srgbClr val="F9F9FB"/>
                    </a:solidFill>
                  </a:tcPr>
                </a:tc>
                <a:tc>
                  <a:txBody>
                    <a:bodyPr/>
                    <a:lstStyle/>
                    <a:p>
                      <a:pPr algn="ctr"/>
                      <a:r>
                        <a:rPr sz="1150" b="0">
                          <a:solidFill>
                            <a:srgbClr val="262626"/>
                          </a:solidFill>
                          <a:latin typeface="Aptos"/>
                        </a:rPr>
                        <a:t>36.186%</a:t>
                      </a:r>
                    </a:p>
                  </a:txBody>
                  <a:tcPr>
                    <a:solidFill>
                      <a:srgbClr val="F9F9FB"/>
                    </a:solidFill>
                  </a:tcPr>
                </a:tc>
                <a:tc>
                  <a:txBody>
                    <a:bodyPr/>
                    <a:lstStyle/>
                    <a:p>
                      <a:pPr algn="ctr"/>
                      <a:r>
                        <a:rPr sz="1150" b="0">
                          <a:solidFill>
                            <a:srgbClr val="262626"/>
                          </a:solidFill>
                          <a:latin typeface="Aptos"/>
                        </a:rPr>
                        <a:t>50.193%</a:t>
                      </a:r>
                    </a:p>
                  </a:txBody>
                  <a:tcPr>
                    <a:solidFill>
                      <a:srgbClr val="F9F9FB"/>
                    </a:solidFill>
                  </a:tcPr>
                </a:tc>
                <a:tc>
                  <a:txBody>
                    <a:bodyPr/>
                    <a:lstStyle/>
                    <a:p>
                      <a:pPr algn="ctr"/>
                      <a:r>
                        <a:rPr sz="1150" b="0">
                          <a:solidFill>
                            <a:srgbClr val="262626"/>
                          </a:solidFill>
                          <a:latin typeface="Aptos"/>
                        </a:rPr>
                        <a:t>62.340%</a:t>
                      </a:r>
                    </a:p>
                  </a:txBody>
                  <a:tcPr>
                    <a:solidFill>
                      <a:srgbClr val="F9F9FB"/>
                    </a:solidFill>
                  </a:tcPr>
                </a:tc>
              </a:tr>
              <a:tr h="365760">
                <a:tc>
                  <a:txBody>
                    <a:bodyPr/>
                    <a:lstStyle/>
                    <a:p>
                      <a:pPr algn="ctr"/>
                      <a:r>
                        <a:rPr sz="1150" b="0">
                          <a:solidFill>
                            <a:srgbClr val="262626"/>
                          </a:solidFill>
                          <a:latin typeface="Aptos"/>
                        </a:rPr>
                        <a:t>Improvement</a:t>
                      </a:r>
                    </a:p>
                  </a:txBody>
                  <a:tcPr>
                    <a:solidFill>
                      <a:srgbClr val="FFFFFF"/>
                    </a:solidFill>
                  </a:tcPr>
                </a:tc>
                <a:tc>
                  <a:txBody>
                    <a:bodyPr/>
                    <a:lstStyle/>
                    <a:p>
                      <a:pPr algn="ctr"/>
                      <a:r>
                        <a:rPr sz="1150" b="0">
                          <a:solidFill>
                            <a:srgbClr val="262626"/>
                          </a:solidFill>
                          <a:latin typeface="Aptos"/>
                        </a:rPr>
                        <a:t>10.481</a:t>
                      </a:r>
                    </a:p>
                  </a:txBody>
                  <a:tcPr>
                    <a:solidFill>
                      <a:srgbClr val="FFFFFF"/>
                    </a:solidFill>
                  </a:tcPr>
                </a:tc>
                <a:tc>
                  <a:txBody>
                    <a:bodyPr/>
                    <a:lstStyle/>
                    <a:p>
                      <a:pPr algn="ctr"/>
                      <a:r>
                        <a:rPr sz="1150" b="0">
                          <a:solidFill>
                            <a:srgbClr val="262626"/>
                          </a:solidFill>
                          <a:latin typeface="Aptos"/>
                        </a:rPr>
                        <a:t>9.433</a:t>
                      </a:r>
                    </a:p>
                  </a:txBody>
                  <a:tcPr>
                    <a:solidFill>
                      <a:srgbClr val="FFFFFF"/>
                    </a:solidFill>
                  </a:tcPr>
                </a:tc>
                <a:tc>
                  <a:txBody>
                    <a:bodyPr/>
                    <a:lstStyle/>
                    <a:p>
                      <a:pPr algn="ctr"/>
                      <a:r>
                        <a:rPr sz="1150" b="0">
                          <a:solidFill>
                            <a:srgbClr val="262626"/>
                          </a:solidFill>
                          <a:latin typeface="Aptos"/>
                        </a:rPr>
                        <a:t>+13.524 pts</a:t>
                      </a:r>
                    </a:p>
                  </a:txBody>
                  <a:tcPr>
                    <a:solidFill>
                      <a:srgbClr val="FFFFFF"/>
                    </a:solidFill>
                  </a:tcPr>
                </a:tc>
                <a:tc>
                  <a:txBody>
                    <a:bodyPr/>
                    <a:lstStyle/>
                    <a:p>
                      <a:pPr algn="ctr"/>
                      <a:r>
                        <a:rPr sz="1150" b="0">
                          <a:solidFill>
                            <a:srgbClr val="262626"/>
                          </a:solidFill>
                          <a:latin typeface="Aptos"/>
                        </a:rPr>
                        <a:t>+16.021 pts</a:t>
                      </a:r>
                    </a:p>
                  </a:txBody>
                  <a:tcPr>
                    <a:solidFill>
                      <a:srgbClr val="FFFFFF"/>
                    </a:solidFill>
                  </a:tcPr>
                </a:tc>
                <a:tc>
                  <a:txBody>
                    <a:bodyPr/>
                    <a:lstStyle/>
                    <a:p>
                      <a:pPr algn="ctr"/>
                      <a:r>
                        <a:rPr sz="1150" b="0">
                          <a:solidFill>
                            <a:srgbClr val="262626"/>
                          </a:solidFill>
                          <a:latin typeface="Aptos"/>
                        </a:rPr>
                        <a:t>+13.729 pts</a:t>
                      </a:r>
                    </a:p>
                  </a:txBody>
                  <a:tcP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12. Quantitative Held-Out Test Results (Cont.)</a:t>
            </a:r>
          </a:p>
        </p:txBody>
      </p:sp>
      <p:sp>
        <p:nvSpPr>
          <p:cNvPr id="5" name="Rounded Rectangle 4"/>
          <p:cNvSpPr/>
          <p:nvPr/>
        </p:nvSpPr>
        <p:spPr>
          <a:xfrm>
            <a:off x="457200" y="1143000"/>
            <a:ext cx="11277295" cy="257302"/>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Table path: reports/evaluation/test_summary_table.csv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13. Visual Comparison Examples</a:t>
            </a:r>
          </a:p>
        </p:txBody>
      </p:sp>
      <p:sp>
        <p:nvSpPr>
          <p:cNvPr id="5" name="TextBox 4"/>
          <p:cNvSpPr txBox="1"/>
          <p:nvPr/>
        </p:nvSpPr>
        <p:spPr>
          <a:xfrm>
            <a:off x="457200" y="1143000"/>
            <a:ext cx="11277295" cy="1562100"/>
          </a:xfrm>
          <a:prstGeom prst="rect">
            <a:avLst/>
          </a:prstGeom>
          <a:noFill/>
          <a:ln>
            <a:noFill/>
          </a:ln>
        </p:spPr>
        <p:txBody>
          <a:bodyPr wrap="square" lIns="0" rIns="0" tIns="0" bIns="0">
            <a:spAutoFit/>
          </a:bodyPr>
          <a:lstStyle/>
          <a:p>
            <a:pPr>
              <a:defRPr sz="1800">
                <a:solidFill>
                  <a:srgbClr val="262626"/>
                </a:solidFill>
                <a:latin typeface="Aptos"/>
              </a:defRPr>
            </a:pPr>
            <a:r>
              <a:t>Best example: Halfmile_shot20301149_seg000, MAE improves from 7.06 ms to 5.06 ms.</a:t>
            </a:r>
          </a:p>
          <a:p>
            <a:pPr>
              <a:defRPr sz="1800">
                <a:solidFill>
                  <a:srgbClr val="262626"/>
                </a:solidFill>
                <a:latin typeface="Aptos"/>
              </a:defRPr>
            </a:pPr>
            <a:r>
              <a:t>Median example: Halfmile_shot20261181_seg001, MAE improves from 47.30 ms to 31.72 ms.</a:t>
            </a:r>
          </a:p>
          <a:p>
            <a:pPr>
              <a:defRPr sz="1800">
                <a:solidFill>
                  <a:srgbClr val="262626"/>
                </a:solidFill>
                <a:latin typeface="Aptos"/>
              </a:defRPr>
            </a:pPr>
            <a:r>
              <a:t>Worst example: Halfmile_shot20041590_seg005, MAE improves only slightly from 436.57 ms to 428.82 ms.</a:t>
            </a:r>
          </a:p>
          <a:p>
            <a:pPr>
              <a:defRPr sz="1800">
                <a:solidFill>
                  <a:srgbClr val="262626"/>
                </a:solidFill>
                <a:latin typeface="Aptos"/>
              </a:defRPr>
            </a:pPr>
            <a:r>
              <a:t>The model helps most when the baseline is close but locally biased.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13. Visual Comparison Examples (Cont.)</a:t>
            </a:r>
          </a:p>
        </p:txBody>
      </p:sp>
      <p:pic>
        <p:nvPicPr>
          <p:cNvPr id="5" name="Picture 4" descr="best_Halfmile_shot20301149_seg000.png"/>
          <p:cNvPicPr>
            <a:picLocks noChangeAspect="1"/>
          </p:cNvPicPr>
          <p:nvPr/>
        </p:nvPicPr>
        <p:blipFill>
          <a:blip r:embed="rId3"/>
          <a:stretch>
            <a:fillRect/>
          </a:stretch>
        </p:blipFill>
        <p:spPr>
          <a:xfrm>
            <a:off x="457200" y="1348677"/>
            <a:ext cx="11277295" cy="4698872"/>
          </a:xfrm>
          <a:prstGeom prst="rect">
            <a:avLst/>
          </a:prstGeom>
        </p:spPr>
      </p:pic>
      <p:sp>
        <p:nvSpPr>
          <p:cNvPr id="6" name="Rounded Rectangle 5"/>
          <p:cNvSpPr/>
          <p:nvPr/>
        </p:nvSpPr>
        <p:spPr>
          <a:xfrm>
            <a:off x="457200" y="6326378"/>
            <a:ext cx="11277295" cy="257302"/>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source: reports/evaluation/figures/best_Halfmile_shot20301149_seg000.png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13. Visual Comparison Examples (Cont.)</a:t>
            </a:r>
          </a:p>
        </p:txBody>
      </p:sp>
      <p:sp>
        <p:nvSpPr>
          <p:cNvPr id="5" name="TextBox 4"/>
          <p:cNvSpPr txBox="1"/>
          <p:nvPr/>
        </p:nvSpPr>
        <p:spPr>
          <a:xfrm>
            <a:off x="457200" y="1143000"/>
            <a:ext cx="11277295" cy="655320"/>
          </a:xfrm>
          <a:prstGeom prst="rect">
            <a:avLst/>
          </a:prstGeom>
          <a:noFill/>
          <a:ln>
            <a:noFill/>
          </a:ln>
        </p:spPr>
        <p:txBody>
          <a:bodyPr wrap="square" lIns="0" rIns="0" tIns="0" bIns="0">
            <a:spAutoFit/>
          </a:bodyPr>
          <a:lstStyle/>
          <a:p>
            <a:pPr>
              <a:defRPr sz="1800">
                <a:solidFill>
                  <a:srgbClr val="262626"/>
                </a:solidFill>
                <a:latin typeface="Aptos"/>
              </a:defRPr>
            </a:pPr>
            <a:r>
              <a:t>reports/evaluation/figures/median_Halfmile_shot20261181_seg001.png</a:t>
            </a:r>
          </a:p>
          <a:p>
            <a:pPr>
              <a:defRPr sz="1800">
                <a:solidFill>
                  <a:srgbClr val="262626"/>
                </a:solidFill>
                <a:latin typeface="Aptos"/>
              </a:defRPr>
            </a:pPr>
            <a:r>
              <a:t>reports/evaluation/figures/worst_Halfmile_shot20041590_seg005.png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14. Error Analysis and Failure Cases</a:t>
            </a:r>
          </a:p>
        </p:txBody>
      </p:sp>
      <p:sp>
        <p:nvSpPr>
          <p:cNvPr id="5" name="TextBox 4"/>
          <p:cNvSpPr txBox="1"/>
          <p:nvPr/>
        </p:nvSpPr>
        <p:spPr>
          <a:xfrm>
            <a:off x="457200" y="1143000"/>
            <a:ext cx="11277295" cy="2141220"/>
          </a:xfrm>
          <a:prstGeom prst="rect">
            <a:avLst/>
          </a:prstGeom>
          <a:noFill/>
          <a:ln>
            <a:noFill/>
          </a:ln>
        </p:spPr>
        <p:txBody>
          <a:bodyPr wrap="square" lIns="0" rIns="0" tIns="0" bIns="0">
            <a:spAutoFit/>
          </a:bodyPr>
          <a:lstStyle/>
          <a:p>
            <a:pPr>
              <a:defRPr sz="1800">
                <a:solidFill>
                  <a:srgbClr val="262626"/>
                </a:solidFill>
                <a:latin typeface="Aptos"/>
              </a:defRPr>
            </a:pPr>
            <a:r>
              <a:t>1,048 of 1,086 test segments improved (96.50%).</a:t>
            </a:r>
          </a:p>
          <a:p>
            <a:pPr>
              <a:defRPr sz="1800">
                <a:solidFill>
                  <a:srgbClr val="262626"/>
                </a:solidFill>
                <a:latin typeface="Aptos"/>
              </a:defRPr>
            </a:pPr>
            <a:r>
              <a:t>36 segments worsened and 2 were unchanged.</a:t>
            </a:r>
          </a:p>
          <a:p>
            <a:pPr>
              <a:defRPr sz="1800">
                <a:solidFill>
                  <a:srgbClr val="262626"/>
                </a:solidFill>
                <a:latin typeface="Aptos"/>
              </a:defRPr>
            </a:pPr>
            <a:r>
              <a:t>Mean per-segment MAE gain is 10.325 ms; median gain is 7.747 ms.</a:t>
            </a:r>
          </a:p>
          <a:p>
            <a:pPr>
              <a:defRPr sz="1800">
                <a:solidFill>
                  <a:srgbClr val="262626"/>
                </a:solidFill>
                <a:latin typeface="Aptos"/>
              </a:defRPr>
            </a:pPr>
            <a:r>
              <a:t>Worst regression case is Halfmile_shot20121514_seg024, where MAE changes from 54.69 ms to 64.77 ms.</a:t>
            </a:r>
          </a:p>
          <a:p>
            <a:pPr>
              <a:defRPr sz="1800">
                <a:solidFill>
                  <a:srgbClr val="262626"/>
                </a:solidFill>
                <a:latin typeface="Aptos"/>
              </a:defRPr>
            </a:pPr>
            <a:r>
              <a:t>Remaining failures are concentrated in segments where the baseline starts far from the true line.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14. Error Analysis and Failure Cases (Cont.)</a:t>
            </a:r>
          </a:p>
        </p:txBody>
      </p:sp>
      <p:pic>
        <p:nvPicPr>
          <p:cNvPr id="5" name="Picture 4" descr="regression_Halfmile_shot20121514_seg024.png"/>
          <p:cNvPicPr>
            <a:picLocks noChangeAspect="1"/>
          </p:cNvPicPr>
          <p:nvPr/>
        </p:nvPicPr>
        <p:blipFill>
          <a:blip r:embed="rId3"/>
          <a:stretch>
            <a:fillRect/>
          </a:stretch>
        </p:blipFill>
        <p:spPr>
          <a:xfrm>
            <a:off x="457200" y="1348677"/>
            <a:ext cx="11277295" cy="4698872"/>
          </a:xfrm>
          <a:prstGeom prst="rect">
            <a:avLst/>
          </a:prstGeom>
        </p:spPr>
      </p:pic>
      <p:sp>
        <p:nvSpPr>
          <p:cNvPr id="6" name="Rounded Rectangle 5"/>
          <p:cNvSpPr/>
          <p:nvPr/>
        </p:nvSpPr>
        <p:spPr>
          <a:xfrm>
            <a:off x="457200" y="6326378"/>
            <a:ext cx="11277295" cy="257302"/>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source: reports/evaluation/figures/regression_Halfmile_shot20121514_seg024.png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15. Robustness, Limitations, and No-GPU Tradeoffs</a:t>
            </a:r>
          </a:p>
        </p:txBody>
      </p:sp>
      <p:sp>
        <p:nvSpPr>
          <p:cNvPr id="5" name="TextBox 4"/>
          <p:cNvSpPr txBox="1"/>
          <p:nvPr/>
        </p:nvSpPr>
        <p:spPr>
          <a:xfrm>
            <a:off x="457200" y="1143000"/>
            <a:ext cx="11277295" cy="2644140"/>
          </a:xfrm>
          <a:prstGeom prst="rect">
            <a:avLst/>
          </a:prstGeom>
          <a:noFill/>
          <a:ln>
            <a:noFill/>
          </a:ln>
        </p:spPr>
        <p:txBody>
          <a:bodyPr wrap="square" lIns="0" rIns="0" tIns="0" bIns="0">
            <a:spAutoFit/>
          </a:bodyPr>
          <a:lstStyle/>
          <a:p>
            <a:pPr>
              <a:defRPr sz="1800">
                <a:solidFill>
                  <a:srgbClr val="262626"/>
                </a:solidFill>
                <a:latin typeface="Aptos"/>
              </a:defRPr>
            </a:pPr>
            <a:r>
              <a:t>Strength: the final workflow is reproducible, fast enough on CPU, and uses a leakage-safe split.</a:t>
            </a:r>
          </a:p>
          <a:p>
            <a:pPr>
              <a:defRPr sz="1800">
                <a:solidFill>
                  <a:srgbClr val="262626"/>
                </a:solidFill>
                <a:latin typeface="Aptos"/>
              </a:defRPr>
            </a:pPr>
            <a:r>
              <a:t>Strength: the code path is modular and shared across export, training, and evaluation.</a:t>
            </a:r>
          </a:p>
          <a:p>
            <a:pPr>
              <a:defRPr sz="1800">
                <a:solidFill>
                  <a:srgbClr val="262626"/>
                </a:solidFill>
                <a:latin typeface="Aptos"/>
              </a:defRPr>
            </a:pPr>
            <a:r>
              <a:t>Limitation: only one asset was locally available for execution, so cross-asset generalization is not yet validated.</a:t>
            </a:r>
          </a:p>
          <a:p>
            <a:pPr>
              <a:defRPr sz="1800">
                <a:solidFill>
                  <a:srgbClr val="262626"/>
                </a:solidFill>
                <a:latin typeface="Aptos"/>
              </a:defRPr>
            </a:pPr>
            <a:r>
              <a:t>Limitation: the model learns local residuals and can fail when the baseline is globally misaligned.</a:t>
            </a:r>
          </a:p>
          <a:p>
            <a:pPr>
              <a:defRPr sz="1800">
                <a:solidFill>
                  <a:srgbClr val="262626"/>
                </a:solidFill>
                <a:latin typeface="Aptos"/>
              </a:defRPr>
            </a:pPr>
            <a:r>
              <a:t>Tradeoff: skipping GPU-oriented deep learning reduced infrastructure cost but also capped model expressiveness.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16. Multi-Asset Readiness and What Remains Unverified</a:t>
            </a:r>
          </a:p>
        </p:txBody>
      </p:sp>
      <p:sp>
        <p:nvSpPr>
          <p:cNvPr id="5" name="TextBox 4"/>
          <p:cNvSpPr txBox="1"/>
          <p:nvPr/>
        </p:nvSpPr>
        <p:spPr>
          <a:xfrm>
            <a:off x="457200" y="1143000"/>
            <a:ext cx="11277295" cy="1889760"/>
          </a:xfrm>
          <a:prstGeom prst="rect">
            <a:avLst/>
          </a:prstGeom>
          <a:noFill/>
          <a:ln>
            <a:noFill/>
          </a:ln>
        </p:spPr>
        <p:txBody>
          <a:bodyPr wrap="square" lIns="0" rIns="0" tIns="0" bIns="0">
            <a:spAutoFit/>
          </a:bodyPr>
          <a:lstStyle/>
          <a:p>
            <a:pPr>
              <a:defRPr sz="1800">
                <a:solidFill>
                  <a:srgbClr val="262626"/>
                </a:solidFill>
                <a:latin typeface="Aptos"/>
              </a:defRPr>
            </a:pPr>
            <a:r>
              <a:t>The loader now supports SHOTID with SHOT_PEG fallback.</a:t>
            </a:r>
          </a:p>
          <a:p>
            <a:pPr>
              <a:defRPr sz="1800">
                <a:solidFill>
                  <a:srgbClr val="262626"/>
                </a:solidFill>
                <a:latin typeface="Aptos"/>
              </a:defRPr>
            </a:pPr>
            <a:r>
              <a:t>Coordinate and elevation scaling are handled generically through COORD_SCALE and HT_SCALE.</a:t>
            </a:r>
          </a:p>
          <a:p>
            <a:pPr>
              <a:defRPr sz="1800">
                <a:solidFill>
                  <a:srgbClr val="262626"/>
                </a:solidFill>
                <a:latin typeface="Aptos"/>
              </a:defRPr>
            </a:pPr>
            <a:r>
              <a:t>asset_name is carried through manifests, splits, datasets, and evaluation outputs.</a:t>
            </a:r>
          </a:p>
          <a:p>
            <a:pPr>
              <a:defRPr sz="1800">
                <a:solidFill>
                  <a:srgbClr val="262626"/>
                </a:solidFill>
                <a:latin typeface="Aptos"/>
              </a:defRPr>
            </a:pPr>
            <a:r>
              <a:t>The same pipeline should run on Brunswick, Lalor, and Sudbury once their raw HDF5 files are added.</a:t>
            </a:r>
          </a:p>
          <a:p>
            <a:pPr>
              <a:defRPr sz="1800">
                <a:solidFill>
                  <a:srgbClr val="262626"/>
                </a:solidFill>
                <a:latin typeface="Aptos"/>
              </a:defRPr>
            </a:pPr>
            <a:r>
              <a:t>What remains unverified is not the interface, but the empirical behavior on those assets.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17. Final Conclusion</a:t>
            </a:r>
          </a:p>
        </p:txBody>
      </p:sp>
      <p:sp>
        <p:nvSpPr>
          <p:cNvPr id="5" name="TextBox 4"/>
          <p:cNvSpPr txBox="1"/>
          <p:nvPr/>
        </p:nvSpPr>
        <p:spPr>
          <a:xfrm>
            <a:off x="457200" y="1143000"/>
            <a:ext cx="11277295" cy="2065020"/>
          </a:xfrm>
          <a:prstGeom prst="rect">
            <a:avLst/>
          </a:prstGeom>
          <a:noFill/>
          <a:ln>
            <a:noFill/>
          </a:ln>
        </p:spPr>
        <p:txBody>
          <a:bodyPr wrap="square" lIns="0" rIns="0" tIns="0" bIns="0">
            <a:spAutoFit/>
          </a:bodyPr>
          <a:lstStyle/>
          <a:p>
            <a:pPr>
              <a:defRPr sz="1800">
                <a:solidFill>
                  <a:srgbClr val="262626"/>
                </a:solidFill>
                <a:latin typeface="Aptos"/>
              </a:defRPr>
            </a:pPr>
            <a:r>
              <a:t>A full CPU-only Halfmile pipeline was built and validated end to end.</a:t>
            </a:r>
          </a:p>
          <a:p>
            <a:pPr>
              <a:defRPr sz="1800">
                <a:solidFill>
                  <a:srgbClr val="262626"/>
                </a:solidFill>
                <a:latin typeface="Aptos"/>
              </a:defRPr>
            </a:pPr>
            <a:r>
              <a:t>The final workflow reconstructs 2D panels, enforces shot-disjoint evaluation, learns a residual correction, and reports held-out full-segment metrics.</a:t>
            </a:r>
          </a:p>
          <a:p>
            <a:pPr>
              <a:defRPr sz="1800">
                <a:solidFill>
                  <a:srgbClr val="262626"/>
                </a:solidFill>
                <a:latin typeface="Aptos"/>
              </a:defRPr>
            </a:pPr>
            <a:r>
              <a:t>On held-out Halfmile shots, ML correction improves MAE by 10.48 ms and RMSE by 9.43 ms over the refined baseline.</a:t>
            </a:r>
          </a:p>
          <a:p>
            <a:pPr>
              <a:defRPr sz="1800">
                <a:solidFill>
                  <a:srgbClr val="262626"/>
                </a:solidFill>
                <a:latin typeface="Aptos"/>
              </a:defRPr>
            </a:pPr>
            <a:r>
              <a:t>The current result is submission-ready for a Halfmile-centered demonstration and provides a clean base for multi-asset extension.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Slide 17. Final Conclusion (Cont.)</a:t>
            </a:r>
          </a:p>
        </p:txBody>
      </p:sp>
      <p:sp>
        <p:nvSpPr>
          <p:cNvPr id="5" name="Rounded Rectangle 4"/>
          <p:cNvSpPr/>
          <p:nvPr/>
        </p:nvSpPr>
        <p:spPr>
          <a:xfrm>
            <a:off x="457200" y="1143000"/>
            <a:ext cx="11277295" cy="457200"/>
          </a:xfrm>
          <a:prstGeom prst="roundRect">
            <a:avLst/>
          </a:prstGeom>
          <a:solidFill>
            <a:srgbClr val="E7EB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r>
              <a:rPr sz="950">
                <a:solidFill>
                  <a:srgbClr val="668086"/>
                </a:solidFill>
                <a:latin typeface="Aptos"/>
              </a:rPr>
              <a:t>Figure reference: reports/evaluation/test_summary_table.csv</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Appendix A. Commands Used for the Final Run</a:t>
            </a:r>
          </a:p>
        </p:txBody>
      </p:sp>
      <p:sp>
        <p:nvSpPr>
          <p:cNvPr id="5" name="Rounded Rectangle 4"/>
          <p:cNvSpPr/>
          <p:nvPr/>
        </p:nvSpPr>
        <p:spPr>
          <a:xfrm>
            <a:off x="457200" y="1143000"/>
            <a:ext cx="914400" cy="201168"/>
          </a:xfrm>
          <a:prstGeom prst="round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900">
                <a:solidFill>
                  <a:srgbClr val="FFFFFF"/>
                </a:solidFill>
                <a:latin typeface="Aptos"/>
              </a:defRPr>
            </a:pPr>
            <a:r>
              <a:t>BASH</a:t>
            </a:r>
          </a:p>
        </p:txBody>
      </p:sp>
      <p:sp>
        <p:nvSpPr>
          <p:cNvPr id="6" name="Rounded Rectangle 5"/>
          <p:cNvSpPr/>
          <p:nvPr/>
        </p:nvSpPr>
        <p:spPr>
          <a:xfrm>
            <a:off x="457200" y="1399032"/>
            <a:ext cx="11277295" cy="3473450"/>
          </a:xfrm>
          <a:prstGeom prst="roundRect">
            <a:avLst/>
          </a:prstGeom>
          <a:solidFill>
            <a:srgbClr val="2E303E"/>
          </a:solidFill>
          <a:ln>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r>
              <a:rPr sz="1250">
                <a:solidFill>
                  <a:srgbClr val="FFFFFF"/>
                </a:solidFill>
                <a:latin typeface="Consolas"/>
              </a:rPr>
              <a:t>python scripts/export_segments.py --path data/raw/Halfmile3D_add_geom_sorted.hdf5 --out_dir data/interim/Halfmile_segments --asset_name Halfmile
python scripts/split_segments_train_test.py --segments_dir data/interim/Halfmile_segments --manifest_path data/interim/Halfmile_segments/Halfmile_segments_manifest.json --out_dir data/processed/splits --train_ratio 0.7 --val_ratio 0.1 --seed 42
python scripts/build_ml_dataset.py --segments_dir data/interim/Halfmile_segments --split_json data/processed/splits/train_segments.json --out_npz data/processed/ml_train_dataset.npz
python scripts/build_ml_dataset.py --segments_dir data/interim/Halfmile_segments --split_json data/processed/splits/val_segments.json --out_npz data/processed/ml_val_dataset.npz
python scripts/build_ml_dataset.py --segments_dir data/interim/Halfmile_segments --split_json data/processed/splits/test_segments.json --out_npz data/processed/ml_test_dataset.npz
python scripts/train_ml_correction_model.py --train_npz data/processed/ml_train_dataset.npz --val_npz data/processed/ml_val_dataset.npz --out_model data/processed/ml_correction_model.pkl --out_report data/processed/ml_correction_training_report.json
python scripts/evaluate_ml_correction_model.py --segments_dir data/interim/Halfmile_segments --test_split_json data/processed/splits/test_segments.json --model_pkl data/processed/ml_correction_model.pkl --out_dir reports/evaluation
python -m unittest discover -s tests -v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Appendix B. Artifact Inventory</a:t>
            </a:r>
          </a:p>
        </p:txBody>
      </p:sp>
      <p:sp>
        <p:nvSpPr>
          <p:cNvPr id="5" name="TextBox 4"/>
          <p:cNvSpPr txBox="1"/>
          <p:nvPr/>
        </p:nvSpPr>
        <p:spPr>
          <a:xfrm>
            <a:off x="457200" y="1143000"/>
            <a:ext cx="11277295" cy="2293620"/>
          </a:xfrm>
          <a:prstGeom prst="rect">
            <a:avLst/>
          </a:prstGeom>
          <a:noFill/>
          <a:ln>
            <a:noFill/>
          </a:ln>
        </p:spPr>
        <p:txBody>
          <a:bodyPr wrap="square" lIns="0" rIns="0" tIns="0" bIns="0">
            <a:spAutoFit/>
          </a:bodyPr>
          <a:lstStyle/>
          <a:p>
            <a:pPr>
              <a:defRPr sz="1800">
                <a:solidFill>
                  <a:srgbClr val="262626"/>
                </a:solidFill>
                <a:latin typeface="Aptos"/>
              </a:defRPr>
            </a:pPr>
            <a:r>
              <a:t>Split summary: data/processed/splits/split_summary.json</a:t>
            </a:r>
          </a:p>
          <a:p>
            <a:pPr>
              <a:defRPr sz="1800">
                <a:solidFill>
                  <a:srgbClr val="262626"/>
                </a:solidFill>
                <a:latin typeface="Aptos"/>
              </a:defRPr>
            </a:pPr>
            <a:r>
              <a:t>Training report: data/processed/ml_correction_training_report.json</a:t>
            </a:r>
          </a:p>
          <a:p>
            <a:pPr>
              <a:defRPr sz="1800">
                <a:solidFill>
                  <a:srgbClr val="262626"/>
                </a:solidFill>
                <a:latin typeface="Aptos"/>
              </a:defRPr>
            </a:pPr>
            <a:r>
              <a:t>Held-out summary: reports/evaluation/test_summary.json</a:t>
            </a:r>
          </a:p>
          <a:p>
            <a:pPr>
              <a:defRPr sz="1800">
                <a:solidFill>
                  <a:srgbClr val="262626"/>
                </a:solidFill>
                <a:latin typeface="Aptos"/>
              </a:defRPr>
            </a:pPr>
            <a:r>
              <a:t>Held-out summary table: reports/evaluation/test_summary_table.csv</a:t>
            </a:r>
          </a:p>
          <a:p>
            <a:pPr>
              <a:defRPr sz="1800">
                <a:solidFill>
                  <a:srgbClr val="262626"/>
                </a:solidFill>
                <a:latin typeface="Aptos"/>
              </a:defRPr>
            </a:pPr>
            <a:r>
              <a:t>Per-segment metrics: reports/evaluation/test_segment_metrics.csv</a:t>
            </a:r>
          </a:p>
          <a:p>
            <a:pPr>
              <a:defRPr sz="1800">
                <a:solidFill>
                  <a:srgbClr val="262626"/>
                </a:solidFill>
                <a:latin typeface="Aptos"/>
              </a:defRPr>
            </a:pPr>
            <a:r>
              <a:t>Best, median, worst, regression figures: reports/evaluation/figures/</a:t>
            </a:r>
          </a:p>
          <a:p>
            <a:pPr>
              <a:defRPr sz="1800">
                <a:solidFill>
                  <a:srgbClr val="262626"/>
                </a:solidFill>
                <a:latin typeface="Aptos"/>
              </a:defRPr>
            </a:pPr>
            <a:r>
              <a:t>Compact report summary: reports/evaluation/methodology_results_summary.md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Appendix C. Final Hyperparameters</a:t>
            </a:r>
          </a:p>
        </p:txBody>
      </p:sp>
      <p:sp>
        <p:nvSpPr>
          <p:cNvPr id="5" name="Rounded Rectangle 4"/>
          <p:cNvSpPr/>
          <p:nvPr/>
        </p:nvSpPr>
        <p:spPr>
          <a:xfrm>
            <a:off x="457200" y="1143000"/>
            <a:ext cx="914400" cy="201168"/>
          </a:xfrm>
          <a:prstGeom prst="round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900">
                <a:solidFill>
                  <a:srgbClr val="FFFFFF"/>
                </a:solidFill>
                <a:latin typeface="Aptos"/>
              </a:defRPr>
            </a:pPr>
            <a:r>
              <a:t>JSON</a:t>
            </a:r>
          </a:p>
        </p:txBody>
      </p:sp>
      <p:sp>
        <p:nvSpPr>
          <p:cNvPr id="6" name="Rounded Rectangle 5"/>
          <p:cNvSpPr/>
          <p:nvPr/>
        </p:nvSpPr>
        <p:spPr>
          <a:xfrm>
            <a:off x="457200" y="1399032"/>
            <a:ext cx="11277295" cy="2844800"/>
          </a:xfrm>
          <a:prstGeom prst="roundRect">
            <a:avLst/>
          </a:prstGeom>
          <a:solidFill>
            <a:srgbClr val="2E303E"/>
          </a:solidFill>
          <a:ln>
            <a:solidFill>
              <a:srgbClr val="757575"/>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r>
              <a:rPr sz="1250">
                <a:solidFill>
                  <a:srgbClr val="FFFFFF"/>
                </a:solidFill>
                <a:latin typeface="Consolas"/>
              </a:rPr>
              <a:t>{
  "model": "HistGradientBoostingRegressor",
  "learning_rate": 0.04,
  "max_iter": 260,
  "max_depth": 8,
  "min_samples_leaf": 25,
  "l2_regularization": 0.0,
  "half_width": 2,
  "half_height": 40,
  "trace_stride": 3,
  "max_abs_correction": 60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5F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D3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11535" y="0"/>
            <a:ext cx="1280160" cy="164592"/>
          </a:xfrm>
          <a:prstGeom prst="rect">
            <a:avLst/>
          </a:prstGeom>
          <a:solidFill>
            <a:srgbClr val="53B5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11277295" cy="411480"/>
          </a:xfrm>
          <a:prstGeom prst="rect">
            <a:avLst/>
          </a:prstGeom>
          <a:noFill/>
          <a:ln>
            <a:noFill/>
          </a:ln>
        </p:spPr>
        <p:txBody>
          <a:bodyPr wrap="square" lIns="0" rIns="0" tIns="0" bIns="0" anchor="t">
            <a:spAutoFit/>
          </a:bodyPr>
          <a:lstStyle/>
          <a:p>
            <a:pPr algn="l"/>
            <a:r>
              <a:rPr sz="2400" b="1" i="0">
                <a:solidFill>
                  <a:srgbClr val="1D3D6D"/>
                </a:solidFill>
                <a:latin typeface="Aptos"/>
              </a:rPr>
              <a:t>Appendix D. Extra Qualitative Examples</a:t>
            </a:r>
          </a:p>
        </p:txBody>
      </p:sp>
      <p:sp>
        <p:nvSpPr>
          <p:cNvPr id="5" name="TextBox 4"/>
          <p:cNvSpPr txBox="1"/>
          <p:nvPr/>
        </p:nvSpPr>
        <p:spPr>
          <a:xfrm>
            <a:off x="457200" y="1143000"/>
            <a:ext cx="11277295" cy="1562100"/>
          </a:xfrm>
          <a:prstGeom prst="rect">
            <a:avLst/>
          </a:prstGeom>
          <a:noFill/>
          <a:ln>
            <a:noFill/>
          </a:ln>
        </p:spPr>
        <p:txBody>
          <a:bodyPr wrap="square" lIns="0" rIns="0" tIns="0" bIns="0">
            <a:spAutoFit/>
          </a:bodyPr>
          <a:lstStyle/>
          <a:p>
            <a:pPr>
              <a:defRPr sz="1800">
                <a:solidFill>
                  <a:srgbClr val="262626"/>
                </a:solidFill>
                <a:latin typeface="Aptos"/>
              </a:defRPr>
            </a:pPr>
            <a:r>
              <a:t>Best example figure: reports/evaluation/figures/best_Halfmile_shot20301149_seg000.png</a:t>
            </a:r>
          </a:p>
          <a:p>
            <a:pPr>
              <a:defRPr sz="1800">
                <a:solidFill>
                  <a:srgbClr val="262626"/>
                </a:solidFill>
                <a:latin typeface="Aptos"/>
              </a:defRPr>
            </a:pPr>
            <a:r>
              <a:t>Median example figure: reports/evaluation/figures/median_Halfmile_shot20261181_seg001.png</a:t>
            </a:r>
          </a:p>
          <a:p>
            <a:pPr>
              <a:defRPr sz="1800">
                <a:solidFill>
                  <a:srgbClr val="262626"/>
                </a:solidFill>
                <a:latin typeface="Aptos"/>
              </a:defRPr>
            </a:pPr>
            <a:r>
              <a:t>Worst example figure: reports/evaluation/figures/worst_Halfmile_shot20041590_seg005.png</a:t>
            </a:r>
          </a:p>
          <a:p>
            <a:pPr>
              <a:defRPr sz="1800">
                <a:solidFill>
                  <a:srgbClr val="262626"/>
                </a:solidFill>
                <a:latin typeface="Aptos"/>
              </a:defRPr>
            </a:pPr>
            <a:r>
              <a:t>Regression example figure: reports/evaluation/figures/regression_Halfmile_shot20121514_seg024.png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